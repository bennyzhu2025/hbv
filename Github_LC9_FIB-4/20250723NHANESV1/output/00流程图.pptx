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D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F9D28-83A5-4D58-B55A-A9C92D9EC567}" v="24" dt="2025-07-27T04:56:59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891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en ZHU" userId="da228d8817d1dd09" providerId="LiveId" clId="{788F9D28-83A5-4D58-B55A-A9C92D9EC567}"/>
    <pc:docChg chg="undo custSel modSld">
      <pc:chgData name="Shiben ZHU" userId="da228d8817d1dd09" providerId="LiveId" clId="{788F9D28-83A5-4D58-B55A-A9C92D9EC567}" dt="2025-07-27T04:56:59.015" v="1088" actId="1035"/>
      <pc:docMkLst>
        <pc:docMk/>
      </pc:docMkLst>
      <pc:sldChg chg="addSp delSp modSp mod">
        <pc:chgData name="Shiben ZHU" userId="da228d8817d1dd09" providerId="LiveId" clId="{788F9D28-83A5-4D58-B55A-A9C92D9EC567}" dt="2025-07-27T04:56:59.015" v="1088" actId="1035"/>
        <pc:sldMkLst>
          <pc:docMk/>
          <pc:sldMk cId="0" sldId="256"/>
        </pc:sldMkLst>
        <pc:spChg chg="mod">
          <ac:chgData name="Shiben ZHU" userId="da228d8817d1dd09" providerId="LiveId" clId="{788F9D28-83A5-4D58-B55A-A9C92D9EC567}" dt="2025-07-25T16:23:52.689" v="443" actId="552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iben ZHU" userId="da228d8817d1dd09" providerId="LiveId" clId="{788F9D28-83A5-4D58-B55A-A9C92D9EC567}" dt="2025-07-25T16:24:01.138" v="444" actId="553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iben ZHU" userId="da228d8817d1dd09" providerId="LiveId" clId="{788F9D28-83A5-4D58-B55A-A9C92D9EC567}" dt="2025-07-25T16:23:52.689" v="443" actId="552"/>
          <ac:spMkLst>
            <pc:docMk/>
            <pc:sldMk cId="0" sldId="256"/>
            <ac:spMk id="4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5:34.009" v="976" actId="1035"/>
          <ac:spMkLst>
            <pc:docMk/>
            <pc:sldMk cId="0" sldId="256"/>
            <ac:spMk id="5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5:58.385" v="1031" actId="1035"/>
          <ac:spMkLst>
            <pc:docMk/>
            <pc:sldMk cId="0" sldId="256"/>
            <ac:spMk id="6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19.801" v="1064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Shiben ZHU" userId="da228d8817d1dd09" providerId="LiveId" clId="{788F9D28-83A5-4D58-B55A-A9C92D9EC567}" dt="2025-07-25T16:22:26.983" v="430" actId="1076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Shiben ZHU" userId="da228d8817d1dd09" providerId="LiveId" clId="{788F9D28-83A5-4D58-B55A-A9C92D9EC567}" dt="2025-07-27T04:56:07.341" v="1062" actId="1035"/>
          <ac:spMkLst>
            <pc:docMk/>
            <pc:sldMk cId="0" sldId="256"/>
            <ac:spMk id="11" creationId="{1154ACB3-7457-1E99-745F-0C339490E500}"/>
          </ac:spMkLst>
        </pc:spChg>
        <pc:spChg chg="mod">
          <ac:chgData name="Shiben ZHU" userId="da228d8817d1dd09" providerId="LiveId" clId="{788F9D28-83A5-4D58-B55A-A9C92D9EC567}" dt="2025-07-25T16:24:44.297" v="462" actId="103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hiben ZHU" userId="da228d8817d1dd09" providerId="LiveId" clId="{788F9D28-83A5-4D58-B55A-A9C92D9EC567}" dt="2025-07-25T16:32:00.193" v="781" actId="103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59.015" v="1088" actId="103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59.015" v="1088" actId="1035"/>
          <ac:spMkLst>
            <pc:docMk/>
            <pc:sldMk cId="0" sldId="256"/>
            <ac:spMk id="21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59.015" v="1088" actId="1035"/>
          <ac:spMkLst>
            <pc:docMk/>
            <pc:sldMk cId="0" sldId="256"/>
            <ac:spMk id="22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59.015" v="1088" actId="1035"/>
          <ac:spMkLst>
            <pc:docMk/>
            <pc:sldMk cId="0" sldId="256"/>
            <ac:spMk id="34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59.015" v="1088" actId="1035"/>
          <ac:spMkLst>
            <pc:docMk/>
            <pc:sldMk cId="0" sldId="256"/>
            <ac:spMk id="36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59.015" v="1088" actId="1035"/>
          <ac:spMkLst>
            <pc:docMk/>
            <pc:sldMk cId="0" sldId="256"/>
            <ac:spMk id="38" creationId="{00000000-0000-0000-0000-000000000000}"/>
          </ac:spMkLst>
        </pc:spChg>
        <pc:spChg chg="mod">
          <ac:chgData name="Shiben ZHU" userId="da228d8817d1dd09" providerId="LiveId" clId="{788F9D28-83A5-4D58-B55A-A9C92D9EC567}" dt="2025-07-25T16:29:48.729" v="646" actId="1035"/>
          <ac:spMkLst>
            <pc:docMk/>
            <pc:sldMk cId="0" sldId="256"/>
            <ac:spMk id="42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59.015" v="1088" actId="1035"/>
          <ac:spMkLst>
            <pc:docMk/>
            <pc:sldMk cId="0" sldId="256"/>
            <ac:spMk id="46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59.015" v="1088" actId="1035"/>
          <ac:spMkLst>
            <pc:docMk/>
            <pc:sldMk cId="0" sldId="256"/>
            <ac:spMk id="49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59.015" v="1088" actId="1035"/>
          <ac:spMkLst>
            <pc:docMk/>
            <pc:sldMk cId="0" sldId="256"/>
            <ac:spMk id="60" creationId="{00000000-0000-0000-0000-000000000000}"/>
          </ac:spMkLst>
        </pc:spChg>
        <pc:spChg chg="mod">
          <ac:chgData name="Shiben ZHU" userId="da228d8817d1dd09" providerId="LiveId" clId="{788F9D28-83A5-4D58-B55A-A9C92D9EC567}" dt="2025-07-25T16:33:14.468" v="783" actId="1076"/>
          <ac:spMkLst>
            <pc:docMk/>
            <pc:sldMk cId="0" sldId="256"/>
            <ac:spMk id="68" creationId="{00000000-0000-0000-0000-000000000000}"/>
          </ac:spMkLst>
        </pc:spChg>
        <pc:spChg chg="mod">
          <ac:chgData name="Shiben ZHU" userId="da228d8817d1dd09" providerId="LiveId" clId="{788F9D28-83A5-4D58-B55A-A9C92D9EC567}" dt="2025-07-27T04:56:59.015" v="1088" actId="1035"/>
          <ac:spMkLst>
            <pc:docMk/>
            <pc:sldMk cId="0" sldId="256"/>
            <ac:spMk id="70" creationId="{00000000-0000-0000-0000-000000000000}"/>
          </ac:spMkLst>
        </pc:spChg>
        <pc:spChg chg="del mod">
          <ac:chgData name="Shiben ZHU" userId="da228d8817d1dd09" providerId="LiveId" clId="{788F9D28-83A5-4D58-B55A-A9C92D9EC567}" dt="2025-07-27T02:33:29.145" v="939" actId="478"/>
          <ac:spMkLst>
            <pc:docMk/>
            <pc:sldMk cId="0" sldId="256"/>
            <ac:spMk id="71" creationId="{00000000-0000-0000-0000-000000000000}"/>
          </ac:spMkLst>
        </pc:spChg>
        <pc:spChg chg="del mod">
          <ac:chgData name="Shiben ZHU" userId="da228d8817d1dd09" providerId="LiveId" clId="{788F9D28-83A5-4D58-B55A-A9C92D9EC567}" dt="2025-07-27T02:33:29.775" v="940" actId="478"/>
          <ac:spMkLst>
            <pc:docMk/>
            <pc:sldMk cId="0" sldId="256"/>
            <ac:spMk id="72" creationId="{00000000-0000-0000-0000-000000000000}"/>
          </ac:spMkLst>
        </pc:spChg>
        <pc:picChg chg="mod">
          <ac:chgData name="Shiben ZHU" userId="da228d8817d1dd09" providerId="LiveId" clId="{788F9D28-83A5-4D58-B55A-A9C92D9EC567}" dt="2025-07-25T16:21:49.145" v="343" actId="1038"/>
          <ac:picMkLst>
            <pc:docMk/>
            <pc:sldMk cId="0" sldId="256"/>
            <ac:picMk id="13" creationId="{00000000-0000-0000-0000-000000000000}"/>
          </ac:picMkLst>
        </pc:picChg>
        <pc:picChg chg="mod">
          <ac:chgData name="Shiben ZHU" userId="da228d8817d1dd09" providerId="LiveId" clId="{788F9D28-83A5-4D58-B55A-A9C92D9EC567}" dt="2025-07-25T16:24:36.319" v="448" actId="1076"/>
          <ac:picMkLst>
            <pc:docMk/>
            <pc:sldMk cId="0" sldId="256"/>
            <ac:picMk id="1026" creationId="{00000000-0000-0000-0000-000000000000}"/>
          </ac:picMkLst>
        </pc:picChg>
        <pc:cxnChg chg="mod">
          <ac:chgData name="Shiben ZHU" userId="da228d8817d1dd09" providerId="LiveId" clId="{788F9D28-83A5-4D58-B55A-A9C92D9EC567}" dt="2025-07-25T16:23:52.689" v="443" actId="552"/>
          <ac:cxnSpMkLst>
            <pc:docMk/>
            <pc:sldMk cId="0" sldId="256"/>
            <ac:cxnSpMk id="8" creationId="{00000000-0000-0000-0000-000000000000}"/>
          </ac:cxnSpMkLst>
        </pc:cxnChg>
        <pc:cxnChg chg="mod">
          <ac:chgData name="Shiben ZHU" userId="da228d8817d1dd09" providerId="LiveId" clId="{788F9D28-83A5-4D58-B55A-A9C92D9EC567}" dt="2025-07-27T04:55:58.385" v="1031" actId="1035"/>
          <ac:cxnSpMkLst>
            <pc:docMk/>
            <pc:sldMk cId="0" sldId="256"/>
            <ac:cxnSpMk id="10" creationId="{00000000-0000-0000-0000-000000000000}"/>
          </ac:cxnSpMkLst>
        </pc:cxnChg>
        <pc:cxnChg chg="mod">
          <ac:chgData name="Shiben ZHU" userId="da228d8817d1dd09" providerId="LiveId" clId="{788F9D28-83A5-4D58-B55A-A9C92D9EC567}" dt="2025-07-27T04:55:53.289" v="1022" actId="1035"/>
          <ac:cxnSpMkLst>
            <pc:docMk/>
            <pc:sldMk cId="0" sldId="256"/>
            <ac:cxnSpMk id="14" creationId="{00000000-0000-0000-0000-000000000000}"/>
          </ac:cxnSpMkLst>
        </pc:cxnChg>
        <pc:cxnChg chg="mod">
          <ac:chgData name="Shiben ZHU" userId="da228d8817d1dd09" providerId="LiveId" clId="{788F9D28-83A5-4D58-B55A-A9C92D9EC567}" dt="2025-07-25T16:32:00.193" v="781" actId="1037"/>
          <ac:cxnSpMkLst>
            <pc:docMk/>
            <pc:sldMk cId="0" sldId="256"/>
            <ac:cxnSpMk id="17" creationId="{00000000-0000-0000-0000-000000000000}"/>
          </ac:cxnSpMkLst>
        </pc:cxnChg>
        <pc:cxnChg chg="mod">
          <ac:chgData name="Shiben ZHU" userId="da228d8817d1dd09" providerId="LiveId" clId="{788F9D28-83A5-4D58-B55A-A9C92D9EC567}" dt="2025-07-27T04:56:14.404" v="1063" actId="14100"/>
          <ac:cxnSpMkLst>
            <pc:docMk/>
            <pc:sldMk cId="0" sldId="256"/>
            <ac:cxnSpMk id="18" creationId="{00000000-0000-0000-0000-000000000000}"/>
          </ac:cxnSpMkLst>
        </pc:cxnChg>
        <pc:cxnChg chg="mod">
          <ac:chgData name="Shiben ZHU" userId="da228d8817d1dd09" providerId="LiveId" clId="{788F9D28-83A5-4D58-B55A-A9C92D9EC567}" dt="2025-07-25T16:33:59.649" v="786" actId="552"/>
          <ac:cxnSpMkLst>
            <pc:docMk/>
            <pc:sldMk cId="0" sldId="256"/>
            <ac:cxnSpMk id="23" creationId="{00000000-0000-0000-0000-000000000000}"/>
          </ac:cxnSpMkLst>
        </pc:cxnChg>
        <pc:cxnChg chg="mod">
          <ac:chgData name="Shiben ZHU" userId="da228d8817d1dd09" providerId="LiveId" clId="{788F9D28-83A5-4D58-B55A-A9C92D9EC567}" dt="2025-07-25T16:32:00.193" v="781" actId="1037"/>
          <ac:cxnSpMkLst>
            <pc:docMk/>
            <pc:sldMk cId="0" sldId="256"/>
            <ac:cxnSpMk id="27" creationId="{00000000-0000-0000-0000-000000000000}"/>
          </ac:cxnSpMkLst>
        </pc:cxnChg>
        <pc:cxnChg chg="mod">
          <ac:chgData name="Shiben ZHU" userId="da228d8817d1dd09" providerId="LiveId" clId="{788F9D28-83A5-4D58-B55A-A9C92D9EC567}" dt="2025-07-25T16:31:58.064" v="777" actId="1038"/>
          <ac:cxnSpMkLst>
            <pc:docMk/>
            <pc:sldMk cId="0" sldId="256"/>
            <ac:cxnSpMk id="28" creationId="{00000000-0000-0000-0000-000000000000}"/>
          </ac:cxnSpMkLst>
        </pc:cxnChg>
        <pc:cxnChg chg="add mod">
          <ac:chgData name="Shiben ZHU" userId="da228d8817d1dd09" providerId="LiveId" clId="{788F9D28-83A5-4D58-B55A-A9C92D9EC567}" dt="2025-07-27T04:56:07.341" v="1062" actId="1035"/>
          <ac:cxnSpMkLst>
            <pc:docMk/>
            <pc:sldMk cId="0" sldId="256"/>
            <ac:cxnSpMk id="57" creationId="{CC14E126-15AC-635A-7067-3F873EAEBC45}"/>
          </ac:cxnSpMkLst>
        </pc:cxnChg>
        <pc:cxnChg chg="add mod">
          <ac:chgData name="Shiben ZHU" userId="da228d8817d1dd09" providerId="LiveId" clId="{788F9D28-83A5-4D58-B55A-A9C92D9EC567}" dt="2025-07-25T16:33:59.649" v="786" actId="552"/>
          <ac:cxnSpMkLst>
            <pc:docMk/>
            <pc:sldMk cId="0" sldId="256"/>
            <ac:cxnSpMk id="61" creationId="{AC85F39A-3C08-6E25-2266-2F7E010B0CA6}"/>
          </ac:cxnSpMkLst>
        </pc:cxnChg>
        <pc:cxnChg chg="add mod">
          <ac:chgData name="Shiben ZHU" userId="da228d8817d1dd09" providerId="LiveId" clId="{788F9D28-83A5-4D58-B55A-A9C92D9EC567}" dt="2025-07-25T16:38:14.712" v="907" actId="14100"/>
          <ac:cxnSpMkLst>
            <pc:docMk/>
            <pc:sldMk cId="0" sldId="256"/>
            <ac:cxnSpMk id="67" creationId="{21EBDAB6-3DF4-54FC-7DD3-614A9E8B1895}"/>
          </ac:cxnSpMkLst>
        </pc:cxnChg>
      </pc:sldChg>
      <pc:sldChg chg="modSp mod">
        <pc:chgData name="Shiben ZHU" userId="da228d8817d1dd09" providerId="LiveId" clId="{788F9D28-83A5-4D58-B55A-A9C92D9EC567}" dt="2025-07-25T16:30:13.718" v="713" actId="14734"/>
        <pc:sldMkLst>
          <pc:docMk/>
          <pc:sldMk cId="0" sldId="258"/>
        </pc:sldMkLst>
        <pc:graphicFrameChg chg="modGraphic">
          <ac:chgData name="Shiben ZHU" userId="da228d8817d1dd09" providerId="LiveId" clId="{788F9D28-83A5-4D58-B55A-A9C92D9EC567}" dt="2025-07-25T16:30:13.718" v="713" actId="14734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7.jpeg"/><Relationship Id="rId18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6.jpeg"/><Relationship Id="rId17" Type="http://schemas.openxmlformats.org/officeDocument/2006/relationships/image" Target="../media/image11.png"/><Relationship Id="rId2" Type="http://schemas.openxmlformats.org/officeDocument/2006/relationships/tags" Target="../tags/tag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5.jpeg"/><Relationship Id="rId5" Type="http://schemas.openxmlformats.org/officeDocument/2006/relationships/tags" Target="../tags/tag5.xml"/><Relationship Id="rId15" Type="http://schemas.openxmlformats.org/officeDocument/2006/relationships/image" Target="../media/image9.png"/><Relationship Id="rId10" Type="http://schemas.openxmlformats.org/officeDocument/2006/relationships/image" Target="../media/image4.jpeg"/><Relationship Id="rId19" Type="http://schemas.openxmlformats.org/officeDocument/2006/relationships/image" Target="../media/image13.png"/><Relationship Id="rId4" Type="http://schemas.openxmlformats.org/officeDocument/2006/relationships/tags" Target="../tags/tag4.xml"/><Relationship Id="rId9" Type="http://schemas.openxmlformats.org/officeDocument/2006/relationships/image" Target="../media/image3.jpeg"/><Relationship Id="rId1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-1151892" y="4015416"/>
            <a:ext cx="9093600" cy="4104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" name="矩形 6"/>
          <p:cNvSpPr/>
          <p:nvPr/>
        </p:nvSpPr>
        <p:spPr>
          <a:xfrm>
            <a:off x="-1151892" y="-93979"/>
            <a:ext cx="9093600" cy="4075880"/>
          </a:xfrm>
          <a:prstGeom prst="rect">
            <a:avLst/>
          </a:prstGeom>
          <a:solidFill>
            <a:srgbClr val="B1DAFB"/>
          </a:solidFill>
          <a:ln w="28575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" name="矩形 1"/>
          <p:cNvSpPr/>
          <p:nvPr/>
        </p:nvSpPr>
        <p:spPr>
          <a:xfrm>
            <a:off x="-856698" y="-57832"/>
            <a:ext cx="3960000" cy="432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from NHANES 1999–2018 and 2021–2023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 = 113,249)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51815" y="596261"/>
            <a:ext cx="4238831" cy="90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Exclusions due to missing data: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HEI-2015 diet score (n = 8,631)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PHQ-9 score (n = 29,574)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FIB-4 index (n = 49,512)</a:t>
            </a:r>
          </a:p>
        </p:txBody>
      </p:sp>
      <p:sp>
        <p:nvSpPr>
          <p:cNvPr id="4" name="矩形 3"/>
          <p:cNvSpPr/>
          <p:nvPr/>
        </p:nvSpPr>
        <p:spPr>
          <a:xfrm>
            <a:off x="-856698" y="1312430"/>
            <a:ext cx="3960000" cy="432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participants</a:t>
            </a:r>
            <a:b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 = 25,532)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49846" y="1547495"/>
            <a:ext cx="4240800" cy="155393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exclusions due to missing data: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level (n = 13)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Marital status (n = 588)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PIR (n = 1,889)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Drinking alcohol (n = 3174)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HBsAg (n= 3,000)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HCV antibody and RNA (n=25)</a:t>
            </a:r>
          </a:p>
        </p:txBody>
      </p:sp>
      <p:sp>
        <p:nvSpPr>
          <p:cNvPr id="6" name="矩形 5"/>
          <p:cNvSpPr/>
          <p:nvPr/>
        </p:nvSpPr>
        <p:spPr>
          <a:xfrm>
            <a:off x="-856698" y="2255776"/>
            <a:ext cx="3960000" cy="432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analytic sample of participants</a:t>
            </a:r>
            <a:b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 = 16,843)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/>
          <p:cNvCxnSpPr>
            <a:cxnSpLocks/>
            <a:stCxn id="2" idx="2"/>
            <a:endCxn id="4" idx="0"/>
          </p:cNvCxnSpPr>
          <p:nvPr/>
        </p:nvCxnSpPr>
        <p:spPr>
          <a:xfrm>
            <a:off x="1123302" y="374168"/>
            <a:ext cx="0" cy="9382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4" idx="2"/>
            <a:endCxn id="6" idx="0"/>
          </p:cNvCxnSpPr>
          <p:nvPr/>
        </p:nvCxnSpPr>
        <p:spPr>
          <a:xfrm>
            <a:off x="1123302" y="1744430"/>
            <a:ext cx="0" cy="5113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连接符: 肘形 13"/>
          <p:cNvCxnSpPr>
            <a:cxnSpLocks/>
          </p:cNvCxnSpPr>
          <p:nvPr/>
        </p:nvCxnSpPr>
        <p:spPr>
          <a:xfrm rot="16200000" flipH="1">
            <a:off x="1951512" y="-469283"/>
            <a:ext cx="672093" cy="232851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/>
          <p:cNvCxnSpPr>
            <a:cxnSpLocks/>
            <a:stCxn id="4" idx="2"/>
          </p:cNvCxnSpPr>
          <p:nvPr/>
        </p:nvCxnSpPr>
        <p:spPr>
          <a:xfrm rot="16200000" flipH="1">
            <a:off x="2148959" y="718773"/>
            <a:ext cx="275230" cy="232654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79698" y="-29179"/>
            <a:ext cx="230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Observational study</a:t>
            </a:r>
          </a:p>
        </p:txBody>
      </p:sp>
      <p:pic>
        <p:nvPicPr>
          <p:cNvPr id="13" name="图片 12" descr="徽标, 公司名称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508" y="-271606"/>
            <a:ext cx="1916129" cy="1080000"/>
          </a:xfrm>
          <a:prstGeom prst="rect">
            <a:avLst/>
          </a:prstGeom>
        </p:spPr>
      </p:pic>
      <p:sp>
        <p:nvSpPr>
          <p:cNvPr id="12" name="矩形: 圆角 11"/>
          <p:cNvSpPr/>
          <p:nvPr/>
        </p:nvSpPr>
        <p:spPr>
          <a:xfrm>
            <a:off x="-908051" y="3935247"/>
            <a:ext cx="5497374" cy="731520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Mendelian randomization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2735991" y="4961051"/>
            <a:ext cx="1972800" cy="36000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5575545" y="4961049"/>
            <a:ext cx="1973862" cy="360000"/>
          </a:xfrm>
          <a:prstGeom prst="roundRect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>
            <a:stCxn id="15" idx="3"/>
            <a:endCxn id="16" idx="1"/>
          </p:cNvCxnSpPr>
          <p:nvPr/>
        </p:nvCxnSpPr>
        <p:spPr>
          <a:xfrm flipV="1">
            <a:off x="4708791" y="5141049"/>
            <a:ext cx="866754" cy="2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/>
          <p:cNvSpPr/>
          <p:nvPr/>
        </p:nvSpPr>
        <p:spPr>
          <a:xfrm>
            <a:off x="-856698" y="4961049"/>
            <a:ext cx="2908882" cy="36000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Instrumental Variables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3838537" y="4055256"/>
            <a:ext cx="1972800" cy="360000"/>
          </a:xfrm>
          <a:prstGeom prst="round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Confounders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>
            <a:cxnSpLocks/>
            <a:stCxn id="21" idx="3"/>
          </p:cNvCxnSpPr>
          <p:nvPr/>
        </p:nvCxnSpPr>
        <p:spPr>
          <a:xfrm>
            <a:off x="2052184" y="5141049"/>
            <a:ext cx="6838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2" idx="2"/>
            <a:endCxn id="15" idx="0"/>
          </p:cNvCxnSpPr>
          <p:nvPr/>
        </p:nvCxnSpPr>
        <p:spPr>
          <a:xfrm flipH="1">
            <a:off x="3722391" y="4415256"/>
            <a:ext cx="1102546" cy="545795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2" idx="2"/>
            <a:endCxn id="16" idx="0"/>
          </p:cNvCxnSpPr>
          <p:nvPr/>
        </p:nvCxnSpPr>
        <p:spPr>
          <a:xfrm>
            <a:off x="4824937" y="4415256"/>
            <a:ext cx="1737539" cy="545793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094312" y="4304652"/>
            <a:ext cx="116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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×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540391" y="5528675"/>
            <a:ext cx="116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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×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170191" y="4865868"/>
            <a:ext cx="116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√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箭头: 上 41"/>
          <p:cNvSpPr/>
          <p:nvPr/>
        </p:nvSpPr>
        <p:spPr>
          <a:xfrm>
            <a:off x="-176402" y="5337414"/>
            <a:ext cx="268999" cy="731520"/>
          </a:xfrm>
          <a:prstGeom prst="up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46" name="矩形: 圆角 45"/>
          <p:cNvSpPr/>
          <p:nvPr/>
        </p:nvSpPr>
        <p:spPr>
          <a:xfrm>
            <a:off x="-856698" y="5793671"/>
            <a:ext cx="8546360" cy="9194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data:</a:t>
            </a:r>
          </a:p>
          <a:p>
            <a:pPr algn="just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Diet,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activity, Smoking status, Sleep duration, BMI, HDL, Hypertension, Depression</a:t>
            </a:r>
          </a:p>
          <a:p>
            <a:pPr algn="just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data:</a:t>
            </a:r>
          </a:p>
          <a:p>
            <a:pPr algn="just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Fibrosis and cirrhosis of liver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-856699" y="6754146"/>
            <a:ext cx="8546359" cy="868586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Key assumptions: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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Correlation: IVs are strongly related to the exposure;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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Independence: IVs does not affect the outcome through confounding factors;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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Exclusivity: IVs is not directly related to the outcome.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960932" y="4788146"/>
            <a:ext cx="43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-856700" y="7678961"/>
            <a:ext cx="8546358" cy="375254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Bidirectional t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wo-sample Mendelian randomization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EU OpenGWAS proje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392" y="4080793"/>
            <a:ext cx="1924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154ACB3-7457-1E99-745F-0C339490E500}"/>
              </a:ext>
            </a:extLst>
          </p:cNvPr>
          <p:cNvSpPr/>
          <p:nvPr/>
        </p:nvSpPr>
        <p:spPr>
          <a:xfrm>
            <a:off x="-856698" y="3048249"/>
            <a:ext cx="3960000" cy="85627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and multivariable linear regression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cubic spline modeling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subgroup analysis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C14E126-15AC-635A-7067-3F873EAEBC45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1123302" y="2687776"/>
            <a:ext cx="0" cy="3604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C85F39A-3C08-6E25-2266-2F7E010B0CA6}"/>
              </a:ext>
            </a:extLst>
          </p:cNvPr>
          <p:cNvCxnSpPr>
            <a:cxnSpLocks/>
            <a:stCxn id="21" idx="0"/>
            <a:endCxn id="22" idx="1"/>
          </p:cNvCxnSpPr>
          <p:nvPr/>
        </p:nvCxnSpPr>
        <p:spPr>
          <a:xfrm flipV="1">
            <a:off x="597743" y="4235256"/>
            <a:ext cx="3240794" cy="725793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21EBDAB6-3DF4-54FC-7DD3-614A9E8B18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80109" y="2338682"/>
            <a:ext cx="12700" cy="5964733"/>
          </a:xfrm>
          <a:prstGeom prst="bentConnector3">
            <a:avLst>
              <a:gd name="adj1" fmla="val 1800000"/>
            </a:avLst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2770505" y="-3063875"/>
            <a:ext cx="19632930" cy="20574000"/>
            <a:chOff x="-4363" y="-4825"/>
            <a:chExt cx="30918" cy="32400"/>
          </a:xfrm>
        </p:grpSpPr>
        <p:pic>
          <p:nvPicPr>
            <p:cNvPr id="4" name="图片 3" descr="调整协变量后RCS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4219" y="-4825"/>
              <a:ext cx="15267" cy="10800"/>
            </a:xfrm>
            <a:prstGeom prst="rect">
              <a:avLst/>
            </a:prstGeom>
          </p:spPr>
        </p:pic>
        <p:pic>
          <p:nvPicPr>
            <p:cNvPr id="5" name="图片 4" descr="调整协变量后RCS (1)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4327" y="5975"/>
              <a:ext cx="15267" cy="10800"/>
            </a:xfrm>
            <a:prstGeom prst="rect">
              <a:avLst/>
            </a:prstGeom>
          </p:spPr>
        </p:pic>
        <p:pic>
          <p:nvPicPr>
            <p:cNvPr id="6" name="图片 5" descr="调整协变量后RCS (2)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1048" y="-4825"/>
              <a:ext cx="15267" cy="10800"/>
            </a:xfrm>
            <a:prstGeom prst="rect">
              <a:avLst/>
            </a:prstGeom>
          </p:spPr>
        </p:pic>
        <p:pic>
          <p:nvPicPr>
            <p:cNvPr id="7" name="图片 6" descr="调整协变量后RCS (3)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048" y="5975"/>
              <a:ext cx="15267" cy="10800"/>
            </a:xfrm>
            <a:prstGeom prst="rect">
              <a:avLst/>
            </a:prstGeom>
          </p:spPr>
        </p:pic>
        <p:pic>
          <p:nvPicPr>
            <p:cNvPr id="8" name="图片 7" descr="调整协变量后RCS (4)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4363" y="16775"/>
              <a:ext cx="15267" cy="10800"/>
            </a:xfrm>
            <a:prstGeom prst="rect">
              <a:avLst/>
            </a:prstGeom>
          </p:spPr>
        </p:pic>
        <p:pic>
          <p:nvPicPr>
            <p:cNvPr id="9" name="图片 8" descr="调整协变量后RCS (5)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11288" y="16775"/>
              <a:ext cx="15267" cy="10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2853" y="5292"/>
                  <a:ext cx="2350" cy="8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 anchor="t">
                  <a:no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𝐿𝐶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altLang="zh-CN" sz="24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3" y="5292"/>
                  <a:ext cx="2350" cy="865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1391265" y="3337560"/>
                <a:ext cx="1783080" cy="5492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𝐷𝑖𝑒𝑡</m:t>
                          </m:r>
                        </m:sub>
                      </m:sSub>
                    </m:oMath>
                  </m:oMathPara>
                </a14:m>
                <a:endParaRPr lang="en-US" altLang="zh-CN" sz="24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265" y="3337560"/>
                <a:ext cx="1783080" cy="549275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361440" y="10217150"/>
                <a:ext cx="2392680" cy="5492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𝑃𝐴</m:t>
                          </m:r>
                        </m:sub>
                      </m:sSub>
                    </m:oMath>
                  </m:oMathPara>
                </a14:m>
                <a:endParaRPr lang="en-US" altLang="zh-CN" sz="24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40" y="10217150"/>
                <a:ext cx="2392680" cy="54927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11169015" y="10217150"/>
                <a:ext cx="2392680" cy="5492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𝑆𝑚𝑜𝑘𝑖𝑛𝑔</m:t>
                          </m:r>
                        </m:sub>
                      </m:sSub>
                    </m:oMath>
                  </m:oMathPara>
                </a14:m>
                <a:endParaRPr lang="en-US" altLang="zh-CN" sz="24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9015" y="10217150"/>
                <a:ext cx="2392680" cy="549275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253490" y="17073880"/>
                <a:ext cx="1646555" cy="5492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𝐵𝑀𝐼</m:t>
                          </m:r>
                        </m:sub>
                      </m:sSub>
                    </m:oMath>
                  </m:oMathPara>
                </a14:m>
                <a:endParaRPr lang="en-US" altLang="zh-CN" sz="24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490" y="17073880"/>
                <a:ext cx="1646555" cy="54927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11550015" y="17066260"/>
                <a:ext cx="1813560" cy="5492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𝑁𝑜𝑛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𝐻𝐷𝐿</m:t>
                          </m:r>
                        </m:sub>
                      </m:sSub>
                    </m:oMath>
                  </m:oMathPara>
                </a14:m>
                <a:endParaRPr lang="en-US" altLang="zh-CN" sz="24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0015" y="17066260"/>
                <a:ext cx="1813560" cy="549275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-2770505" y="-3108325"/>
            <a:ext cx="1223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a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984365" y="-3108325"/>
            <a:ext cx="1223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b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-2770505" y="3761740"/>
            <a:ext cx="1223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c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984365" y="3761740"/>
            <a:ext cx="1223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d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-2770505" y="10570845"/>
            <a:ext cx="1223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e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984365" y="10570845"/>
            <a:ext cx="1223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f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1006455" y="3550920"/>
            <a:ext cx="777240" cy="368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801985" y="17247235"/>
            <a:ext cx="777240" cy="368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775585" y="17267555"/>
            <a:ext cx="777240" cy="368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1096353"/>
              </p:ext>
            </p:extLst>
          </p:nvPr>
        </p:nvGraphicFramePr>
        <p:xfrm>
          <a:off x="-2747645" y="-3108325"/>
          <a:ext cx="19588480" cy="21873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386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196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2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42*1633"/>
  <p:tag name="TABLE_ENDDRAG_RECT" val="-216*-244*1542*16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5267}"/>
  <p:tag name="KSO_WM_UNIT_PLACING_PICTURE_USER_RELATIVERECTANGLE" val="{&quot;bottom&quot;:0,&quot;left&quot;:0,&quot;right&quot;:0,&quot;top&quot;:0}"/>
  <p:tag name="KSO_WM_UNIT_PLACING_PICTURE_COLLAGE_RELATIVERECTANGLE" val="{&quot;bottom&quot;:0,&quot;left&quot;:0.18775574985046392,&quot;right&quot;:0.18775574985046392,&quot;top&quot;:0}"/>
  <p:tag name="KSO_WM_UNIT_PLACING_PICTURE_COLLAGE_VIEWPORT" val="{&quot;height&quot;:4368,&quot;width&quot;:385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5267}"/>
  <p:tag name="KSO_WM_UNIT_PLACING_PICTURE_USER_RELATIVERECTANGLE" val="{&quot;bottom&quot;:0,&quot;left&quot;:0,&quot;right&quot;:0,&quot;top&quot;:0}"/>
  <p:tag name="KSO_WM_UNIT_PLACING_PICTURE_COLLAGE_RELATIVERECTANGLE" val="{&quot;bottom&quot;:0,&quot;left&quot;:0.18775574985046392,&quot;right&quot;:0.18775574985046392,&quot;top&quot;:0}"/>
  <p:tag name="KSO_WM_UNIT_PLACING_PICTURE_COLLAGE_VIEWPORT" val="{&quot;height&quot;:4368,&quot;width&quot;:385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5267}"/>
  <p:tag name="KSO_WM_UNIT_PLACING_PICTURE_USER_RELATIVERECTANGLE" val="{&quot;bottom&quot;:0,&quot;left&quot;:0,&quot;right&quot;:0,&quot;top&quot;:0}"/>
  <p:tag name="KSO_WM_UNIT_PLACING_PICTURE_COLLAGE_RELATIVERECTANGLE" val="{&quot;bottom&quot;:0,&quot;left&quot;:0.18775574985046392,&quot;right&quot;:0.18775574985046392,&quot;top&quot;:0}"/>
  <p:tag name="KSO_WM_UNIT_PLACING_PICTURE_COLLAGE_VIEWPORT" val="{&quot;height&quot;:4368,&quot;width&quot;:385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5267}"/>
  <p:tag name="KSO_WM_UNIT_PLACING_PICTURE_USER_RELATIVERECTANGLE" val="{&quot;bottom&quot;:0,&quot;left&quot;:0,&quot;right&quot;:0,&quot;top&quot;:0}"/>
  <p:tag name="KSO_WM_UNIT_PLACING_PICTURE_COLLAGE_RELATIVERECTANGLE" val="{&quot;bottom&quot;:0,&quot;left&quot;:0.18775574985046392,&quot;right&quot;:0.18775574985046392,&quot;top&quot;:0}"/>
  <p:tag name="KSO_WM_UNIT_PLACING_PICTURE_COLLAGE_VIEWPORT" val="{&quot;height&quot;:4368,&quot;width&quot;:385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5267}"/>
  <p:tag name="KSO_WM_UNIT_PLACING_PICTURE_USER_RELATIVERECTANGLE" val="{&quot;bottom&quot;:0,&quot;left&quot;:0,&quot;right&quot;:0,&quot;top&quot;:0}"/>
  <p:tag name="KSO_WM_UNIT_PLACING_PICTURE_COLLAGE_RELATIVERECTANGLE" val="{&quot;bottom&quot;:0,&quot;left&quot;:0.18775574985046392,&quot;right&quot;:0.18775574985046392,&quot;top&quot;:0}"/>
  <p:tag name="KSO_WM_UNIT_PLACING_PICTURE_COLLAGE_VIEWPORT" val="{&quot;height&quot;:4368,&quot;width&quot;:385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5267}"/>
  <p:tag name="KSO_WM_UNIT_PLACING_PICTURE_USER_RELATIVERECTANGLE" val="{&quot;bottom&quot;:0,&quot;left&quot;:0,&quot;right&quot;:0,&quot;top&quot;:0}"/>
  <p:tag name="KSO_WM_UNIT_PLACING_PICTURE_COLLAGE_RELATIVERECTANGLE" val="{&quot;bottom&quot;:0,&quot;left&quot;:0.18775574985046392,&quot;right&quot;:0.18775574985046392,&quot;top&quot;:0}"/>
  <p:tag name="KSO_WM_UNIT_PLACING_PICTURE_COLLAGE_VIEWPORT" val="{&quot;height&quot;:4368,&quot;width&quot;:3856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223</Words>
  <Application>Microsoft Office PowerPoint</Application>
  <PresentationFormat>宽屏</PresentationFormat>
  <Paragraphs>49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Cambria Math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Shiben ZHU</cp:lastModifiedBy>
  <cp:revision>24</cp:revision>
  <dcterms:created xsi:type="dcterms:W3CDTF">2023-08-09T12:44:00Z</dcterms:created>
  <dcterms:modified xsi:type="dcterms:W3CDTF">2025-07-27T04:57:09Z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C1B93E95B4BD4146B8F401EEE9D042C9_12</vt:lpwstr>
  </property>
</Properties>
</file>